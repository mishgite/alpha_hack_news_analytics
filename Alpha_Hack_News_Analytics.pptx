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Командный проект: соединяем новость, интересы бизнеса и сотрудника, затем объясняем значимость события с опорой на источники.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интерфейсе сотрудник выбирает личные темы и отключает темы бизнеса для своей ленты. Общие корпоративные теги и веса задаются через backend; автоматическая разметка сохраняет ручные теги.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схема факторов, а не полная формула. Точная формула приведена в readme.md и ranking.py. Для отбора требуется деловая значимость не ниже 0,3; свежесть не создаёт релевантность сама.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Показываем реализованные меры защиты от prompt injection и исполнения входного кода. Эти меры не означают подтверждённую абсолютную защиту; банковская авторизация в прототипе имитируется.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Контекст компании и версии данных фиксируются. Очередь, кеш, события и служебное состояние также хранятся в PostgreSQL. Связь отчётов с разбором логическая через сохранённые ссылки на источники.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Платные LLM-запросы в автоматических тестах заменяются тестовыми транспортами. Для тестов с БД включаются RUN_DATABASE_TESTS и RUN_DB_INTEGRATION. Точные результаты текущей проверки сообщаются отдельно от возможностей тестового набора.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Наш результат — работающий прототип персональной новостной аналитики для бизнеса. Демонстрация: сменить компанию и роль, настроить темы, открыть разбор и проверить источник.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Mishgite/Alpha_Hack_News_Analytics" TargetMode="Externa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0584" cy="246888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97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65666E"/>
                </a:solidFill>
                <a:latin typeface="Arial"/>
              </a:defRPr>
            </a:pPr>
            <a:r>
              <a:t>ХАКАТОН АЛЬФА-БАНКА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335024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3400" b="1">
                <a:solidFill>
                  <a:srgbClr val="16171A"/>
                </a:solidFill>
                <a:latin typeface="Arial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640080" y="7754112"/>
            <a:ext cx="13350240" cy="12801"/>
          </a:xfrm>
          <a:prstGeom prst="rect">
            <a:avLst/>
          </a:prstGeom>
          <a:solidFill>
            <a:srgbClr val="E4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882127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666E"/>
                </a:solidFill>
                <a:latin typeface="Arial"/>
              </a:defRPr>
            </a:pPr>
            <a:r>
              <a:t>ALPHA HACK  /  БИЗНЕС-ИНСАЙТЫ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3640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65666E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0" y="0"/>
            <a:ext cx="5760720" cy="7726679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786384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6400" b="1">
                <a:solidFill>
                  <a:srgbClr val="16171A"/>
                </a:solidFill>
                <a:latin typeface="Arial"/>
              </a:defRPr>
            </a:pPr>
            <a:r>
              <a:t>Бизнес-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6400" b="1">
                <a:solidFill>
                  <a:srgbClr val="16171A"/>
                </a:solidFill>
                <a:latin typeface="Arial"/>
              </a:defRPr>
            </a:pPr>
            <a:r>
              <a:t>инсайты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740664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900" b="0">
                <a:solidFill>
                  <a:srgbClr val="65666E"/>
                </a:solidFill>
                <a:latin typeface="Arial"/>
              </a:defRPr>
            </a:pPr>
            <a:r>
              <a:t>Новости, которые имеют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900" b="0">
                <a:solidFill>
                  <a:srgbClr val="65666E"/>
                </a:solidFill>
                <a:latin typeface="Arial"/>
              </a:defRPr>
            </a:pPr>
            <a:r>
              <a:t>значение для вашей компании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897880"/>
            <a:ext cx="1188720" cy="384048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961888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EF3124"/>
                </a:solidFill>
                <a:latin typeface="Arial"/>
              </a:defRPr>
            </a:pPr>
            <a:r>
              <a:t>ТЕГИ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8840" y="5897880"/>
            <a:ext cx="2560320" cy="384048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0280" y="5961888"/>
            <a:ext cx="2377439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EF3124"/>
                </a:solidFill>
                <a:latin typeface="Arial"/>
              </a:defRPr>
            </a:pPr>
            <a:r>
              <a:t>ПЕРСОНАЛИЗАЦИЯ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5897880"/>
            <a:ext cx="2560320" cy="384048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79" y="5961888"/>
            <a:ext cx="2377439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EF3124"/>
                </a:solidFill>
                <a:latin typeface="Arial"/>
              </a:defRPr>
            </a:pPr>
            <a:r>
              <a:t>AI + ИСТОЧНИКИ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150876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2148839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Событие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46920" y="2743200"/>
            <a:ext cx="0" cy="438912"/>
          </a:xfrm>
          <a:prstGeom prst="line">
            <a:avLst/>
          </a:prstGeom>
          <a:ln w="25400">
            <a:solidFill>
              <a:srgbClr val="FFFF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372600" y="333756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3977639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Контекст бизнеса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46920" y="4572000"/>
            <a:ext cx="0" cy="438912"/>
          </a:xfrm>
          <a:prstGeom prst="line">
            <a:avLst/>
          </a:prstGeom>
          <a:ln w="25400">
            <a:solidFill>
              <a:srgbClr val="FFFF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372600" y="516636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5806440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Обоснованный вывод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0584" cy="246888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97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65666E"/>
                </a:solidFill>
                <a:latin typeface="Arial"/>
              </a:defRPr>
            </a:pPr>
            <a:r>
              <a:t>ПРОДУКТ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335024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3400" b="1">
                <a:solidFill>
                  <a:srgbClr val="16171A"/>
                </a:solidFill>
                <a:latin typeface="Arial"/>
              </a:defRPr>
            </a:pPr>
            <a:r>
              <a:t>Новость одна. Задачи у бизнеса — разные.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754112"/>
            <a:ext cx="13350240" cy="12801"/>
          </a:xfrm>
          <a:prstGeom prst="rect">
            <a:avLst/>
          </a:prstGeom>
          <a:solidFill>
            <a:srgbClr val="E4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882127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666E"/>
                </a:solidFill>
                <a:latin typeface="Arial"/>
              </a:defRPr>
            </a:pPr>
            <a:r>
              <a:t>ALPHA HACK  /  БИЗНЕС-ИНСАЙТЫ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3640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65666E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77440"/>
            <a:ext cx="4297680" cy="333756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78608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800" b="1">
                <a:solidFill>
                  <a:srgbClr val="EF312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16171A"/>
                </a:solidFill>
                <a:latin typeface="Arial"/>
              </a:defRPr>
            </a:pPr>
            <a:r>
              <a:t>Информационный шум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23360"/>
            <a:ext cx="3840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800" b="0">
                <a:solidFill>
                  <a:srgbClr val="65666E"/>
                </a:solidFill>
                <a:latin typeface="Arial"/>
              </a:defRPr>
            </a:pPr>
            <a:r>
              <a:t>В общей ленте сложно найти события своей отрасли.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2377440"/>
            <a:ext cx="4297680" cy="333756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2578608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800" b="1">
                <a:solidFill>
                  <a:srgbClr val="EF312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246120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16171A"/>
                </a:solidFill>
                <a:latin typeface="Arial"/>
              </a:defRPr>
            </a:pPr>
            <a:r>
              <a:t>Разные приоритеты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4023360"/>
            <a:ext cx="3840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800" b="0">
                <a:solidFill>
                  <a:srgbClr val="65666E"/>
                </a:solidFill>
                <a:latin typeface="Arial"/>
              </a:defRPr>
            </a:pPr>
            <a:r>
              <a:t>Директор, бухгалтер и казначей ищут разные сигналы.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2377440"/>
            <a:ext cx="4297680" cy="333756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2578608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800" b="1">
                <a:solidFill>
                  <a:srgbClr val="EF312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3246120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16171A"/>
                </a:solidFill>
                <a:latin typeface="Arial"/>
              </a:defRPr>
            </a:pPr>
            <a:r>
              <a:t>Нужны основания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4023360"/>
            <a:ext cx="3840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800" b="0">
                <a:solidFill>
                  <a:srgbClr val="65666E"/>
                </a:solidFill>
                <a:latin typeface="Arial"/>
              </a:defRPr>
            </a:pPr>
            <a:r>
              <a:t>Для решения важны связь с компанией и первоисточник.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6172200"/>
            <a:ext cx="13350240" cy="1005840"/>
          </a:xfrm>
          <a:prstGeom prst="roundRect">
            <a:avLst>
              <a:gd name="adj" fmla="val 12000"/>
            </a:avLst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6446520"/>
            <a:ext cx="12710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FFFFFF"/>
                </a:solidFill>
                <a:latin typeface="Arial"/>
              </a:defRPr>
            </a:pPr>
            <a:r>
              <a:t>Наша задача: отобрать важное → объяснить влияние → показать доказательства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0584" cy="246888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97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65666E"/>
                </a:solidFill>
                <a:latin typeface="Arial"/>
              </a:defRPr>
            </a:pPr>
            <a:r>
              <a:t>ПРОДУКТ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335024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3400" b="1">
                <a:solidFill>
                  <a:srgbClr val="16171A"/>
                </a:solidFill>
                <a:latin typeface="Arial"/>
              </a:defRPr>
            </a:pPr>
            <a:r>
              <a:t>Персональная лента в бизнес-кабинете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754112"/>
            <a:ext cx="13350240" cy="12801"/>
          </a:xfrm>
          <a:prstGeom prst="rect">
            <a:avLst/>
          </a:prstGeom>
          <a:solidFill>
            <a:srgbClr val="E4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882127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666E"/>
                </a:solidFill>
                <a:latin typeface="Arial"/>
              </a:defRPr>
            </a:pPr>
            <a:r>
              <a:t>ALPHA HACK  /  БИЗНЕС-ИНСАЙТЫ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3640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65666E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2176272"/>
            <a:ext cx="8449055" cy="5202936"/>
          </a:xfrm>
          <a:prstGeom prst="rect">
            <a:avLst/>
          </a:prstGeom>
          <a:solidFill>
            <a:srgbClr val="F3F3F5"/>
          </a:solidFill>
          <a:ln w="12700">
            <a:solidFill>
              <a:srgbClr val="E4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nterface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49" y="2194560"/>
            <a:ext cx="7749540" cy="5166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509760" y="2331720"/>
            <a:ext cx="731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EF312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233172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100" b="1">
                <a:solidFill>
                  <a:srgbClr val="16171A"/>
                </a:solidFill>
                <a:latin typeface="Arial"/>
              </a:defRPr>
            </a:pPr>
            <a:r>
              <a:t>Своя подборка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898648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65666E"/>
                </a:solidFill>
                <a:latin typeface="Arial"/>
              </a:defRPr>
            </a:pPr>
            <a:r>
              <a:t>Компания, роль и выбранные темы.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3931920"/>
            <a:ext cx="731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EF312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393192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100" b="1">
                <a:solidFill>
                  <a:srgbClr val="16171A"/>
                </a:solidFill>
                <a:latin typeface="Arial"/>
              </a:defRPr>
            </a:pPr>
            <a:r>
              <a:t>Понятный отбор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4498848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65666E"/>
                </a:solidFill>
                <a:latin typeface="Arial"/>
              </a:defRPr>
            </a:pPr>
            <a:r>
              <a:t>Теги, причины попадания в ленту, реакции.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5532120"/>
            <a:ext cx="731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EF312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553212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100" b="1">
                <a:solidFill>
                  <a:srgbClr val="16171A"/>
                </a:solidFill>
                <a:latin typeface="Arial"/>
              </a:defRPr>
            </a:pPr>
            <a:r>
              <a:t>Разбор в один шаг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099048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65666E"/>
                </a:solidFill>
                <a:latin typeface="Arial"/>
              </a:defRPr>
            </a:pPr>
            <a:r>
              <a:t>Факты, риски и источники рядом с новостью.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7424927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65666E"/>
                </a:solidFill>
                <a:latin typeface="Arial"/>
              </a:defRPr>
            </a:pPr>
            <a:r>
              <a:t>Снимок приложения · демонстрационные данные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0584" cy="246888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97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65666E"/>
                </a:solidFill>
                <a:latin typeface="Arial"/>
              </a:defRPr>
            </a:pPr>
            <a:r>
              <a:t>ПЕРСОНАЛИЗАЦИЯ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335024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3400" b="1">
                <a:solidFill>
                  <a:srgbClr val="16171A"/>
                </a:solidFill>
                <a:latin typeface="Arial"/>
              </a:defRPr>
            </a:pPr>
            <a:r>
              <a:t>Интересы бизнеса и человека связаны тегами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754112"/>
            <a:ext cx="13350240" cy="12801"/>
          </a:xfrm>
          <a:prstGeom prst="rect">
            <a:avLst/>
          </a:prstGeom>
          <a:solidFill>
            <a:srgbClr val="E4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882127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666E"/>
                </a:solidFill>
                <a:latin typeface="Arial"/>
              </a:defRPr>
            </a:pPr>
            <a:r>
              <a:t>ALPHA HACK  /  БИЗНЕС-ИНСАЙТЫ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3640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65666E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4846320" cy="146304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505456"/>
            <a:ext cx="448055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000" b="1">
                <a:solidFill>
                  <a:srgbClr val="16171A"/>
                </a:solidFill>
                <a:latin typeface="Arial"/>
              </a:defRPr>
            </a:pPr>
            <a:r>
              <a:t>КОМПАНИЯ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63824"/>
            <a:ext cx="44805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500" b="0">
                <a:solidFill>
                  <a:srgbClr val="65666E"/>
                </a:solidFill>
                <a:latin typeface="Arial"/>
              </a:defRPr>
            </a:pPr>
            <a:r>
              <a:t>Отрасль · ОКВЭД · банковские продукты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069080"/>
            <a:ext cx="1554480" cy="384048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33088"/>
            <a:ext cx="1371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EF3124"/>
                </a:solidFill>
                <a:latin typeface="Arial"/>
              </a:defRPr>
            </a:pPr>
            <a:r>
              <a:t>Логистика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4069080"/>
            <a:ext cx="1920240" cy="384048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4133088"/>
            <a:ext cx="17373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EF3124"/>
                </a:solidFill>
                <a:latin typeface="Arial"/>
              </a:defRPr>
            </a:pPr>
            <a:r>
              <a:t>Кредитование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663440"/>
            <a:ext cx="1737360" cy="384048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27448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EF3124"/>
                </a:solidFill>
                <a:latin typeface="Arial"/>
              </a:defRPr>
            </a:pPr>
            <a:r>
              <a:t>Инвестиции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2331720"/>
            <a:ext cx="4846320" cy="146304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2505456"/>
            <a:ext cx="448055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000" b="1">
                <a:solidFill>
                  <a:srgbClr val="16171A"/>
                </a:solidFill>
                <a:latin typeface="Arial"/>
              </a:defRPr>
            </a:pPr>
            <a:r>
              <a:t>СОТРУДНИК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163824"/>
            <a:ext cx="44805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500" b="0">
                <a:solidFill>
                  <a:srgbClr val="65666E"/>
                </a:solidFill>
                <a:latin typeface="Arial"/>
              </a:defRPr>
            </a:pPr>
            <a:r>
              <a:t>Должность · выбор тем · реакции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4069080"/>
            <a:ext cx="1280160" cy="384048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4133088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EF3124"/>
                </a:solidFill>
                <a:latin typeface="Arial"/>
              </a:defRPr>
            </a:pPr>
            <a:r>
              <a:t>Ставки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881360" y="4069080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33088"/>
            <a:ext cx="11887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EF3124"/>
                </a:solidFill>
                <a:latin typeface="Arial"/>
              </a:defRPr>
            </a:pPr>
            <a:r>
              <a:t>Валюты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0" y="4663440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4727448"/>
            <a:ext cx="11887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EF3124"/>
                </a:solidFill>
                <a:latin typeface="Arial"/>
              </a:defRPr>
            </a:pPr>
            <a:r>
              <a:t>Налоги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3794760"/>
            <a:ext cx="2743200" cy="1463040"/>
          </a:xfrm>
          <a:prstGeom prst="roundRect">
            <a:avLst>
              <a:gd name="adj" fmla="val 12000"/>
            </a:avLst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3968496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ОБЩИЙ ПРОФИЛЬ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626864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Веса тем: 0…2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0" y="3063240"/>
            <a:ext cx="457200" cy="1188720"/>
          </a:xfrm>
          <a:prstGeom prst="line">
            <a:avLst/>
          </a:prstGeom>
          <a:ln w="25400">
            <a:solidFill>
              <a:srgbClr val="EF3124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8686800" y="3063240"/>
            <a:ext cx="457200" cy="1188720"/>
          </a:xfrm>
          <a:prstGeom prst="line">
            <a:avLst/>
          </a:prstGeom>
          <a:ln w="25400">
            <a:solidFill>
              <a:srgbClr val="EF3124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754880" y="5989320"/>
            <a:ext cx="5120640" cy="1143000"/>
          </a:xfrm>
          <a:prstGeom prst="roundRect">
            <a:avLst>
              <a:gd name="adj" fmla="val 12000"/>
            </a:avLst>
          </a:prstGeom>
          <a:solidFill>
            <a:srgbClr val="16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60" y="6163056"/>
            <a:ext cx="4754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ПЕРСОНАЛЬНАЯ ЛЕНТА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315200" y="5257800"/>
            <a:ext cx="0" cy="685800"/>
          </a:xfrm>
          <a:prstGeom prst="line">
            <a:avLst/>
          </a:prstGeom>
          <a:ln w="25400">
            <a:solidFill>
              <a:srgbClr val="EF3124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0080" y="7269480"/>
            <a:ext cx="1335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65666E"/>
                </a:solidFill>
                <a:latin typeface="Arial"/>
              </a:defRPr>
            </a:pPr>
            <a:r>
              <a:t>Темы можно выбирать и отключать. Отключённая тема получает вес 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0584" cy="246888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97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65666E"/>
                </a:solidFill>
                <a:latin typeface="Arial"/>
              </a:defRPr>
            </a:pPr>
            <a:r>
              <a:t>ТЕГИ В ИНТЕРФЕЙСЕ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335024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3400" b="1">
                <a:solidFill>
                  <a:srgbClr val="16171A"/>
                </a:solidFill>
                <a:latin typeface="Arial"/>
              </a:defRPr>
            </a:pPr>
            <a:r>
              <a:t>Пользователь управляет своей подборкой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754112"/>
            <a:ext cx="13350240" cy="12801"/>
          </a:xfrm>
          <a:prstGeom prst="rect">
            <a:avLst/>
          </a:prstGeom>
          <a:solidFill>
            <a:srgbClr val="E4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882127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666E"/>
                </a:solidFill>
                <a:latin typeface="Arial"/>
              </a:defRPr>
            </a:pPr>
            <a:r>
              <a:t>ALPHA HACK  /  БИЗНЕС-ИНСАЙТЫ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3640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65666E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2130552"/>
            <a:ext cx="8494776" cy="5340096"/>
          </a:xfrm>
          <a:prstGeom prst="rect">
            <a:avLst/>
          </a:prstGeom>
          <a:solidFill>
            <a:srgbClr val="F3F3F5"/>
          </a:solidFill>
          <a:ln w="12700">
            <a:solidFill>
              <a:srgbClr val="E4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nter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148840"/>
            <a:ext cx="7955279" cy="5303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0" y="237744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500" b="1">
                <a:solidFill>
                  <a:srgbClr val="EF3124"/>
                </a:solidFill>
                <a:latin typeface="Arial"/>
              </a:defRPr>
            </a:pPr>
            <a:r>
              <a:t>Выбрать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971800"/>
            <a:ext cx="4297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000" b="0">
                <a:solidFill>
                  <a:srgbClr val="65666E"/>
                </a:solidFill>
                <a:latin typeface="Arial"/>
              </a:defRPr>
            </a:pPr>
            <a:r>
              <a:t>Добавить личные темы из справочника.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38404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500" b="1">
                <a:solidFill>
                  <a:srgbClr val="EF3124"/>
                </a:solidFill>
                <a:latin typeface="Arial"/>
              </a:defRPr>
            </a:pPr>
            <a:r>
              <a:t>Отключить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4434840"/>
            <a:ext cx="4297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000" b="0">
                <a:solidFill>
                  <a:srgbClr val="65666E"/>
                </a:solidFill>
                <a:latin typeface="Arial"/>
              </a:defRPr>
            </a:pPr>
            <a:r>
              <a:t>Убрать влияние ненужной темы бизнеса.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530352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500" b="1">
                <a:solidFill>
                  <a:srgbClr val="EF3124"/>
                </a:solidFill>
                <a:latin typeface="Arial"/>
              </a:defRPr>
            </a:pPr>
            <a:r>
              <a:t>Уточнить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5897880"/>
            <a:ext cx="4297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000" b="0">
                <a:solidFill>
                  <a:srgbClr val="65666E"/>
                </a:solidFill>
                <a:latin typeface="Arial"/>
              </a:defRPr>
            </a:pPr>
            <a:r>
              <a:t>Лайками и дизлайками скорректировать веса.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90372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65666E"/>
                </a:solidFill>
                <a:latin typeface="Arial"/>
              </a:defRPr>
            </a:pPr>
            <a:r>
              <a:t>Общий набор тегов компании и веса — в backend.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0584" cy="246888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97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65666E"/>
                </a:solidFill>
                <a:latin typeface="Arial"/>
              </a:defRPr>
            </a:pPr>
            <a:r>
              <a:t>УСТРОЙСТВО 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335024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3400" b="1">
                <a:solidFill>
                  <a:srgbClr val="16171A"/>
                </a:solidFill>
                <a:latin typeface="Arial"/>
              </a:defRPr>
            </a:pPr>
            <a:r>
              <a:t>Архитектура: API, worker и единое хранилище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754112"/>
            <a:ext cx="13350240" cy="12801"/>
          </a:xfrm>
          <a:prstGeom prst="rect">
            <a:avLst/>
          </a:prstGeom>
          <a:solidFill>
            <a:srgbClr val="E4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882127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666E"/>
                </a:solidFill>
                <a:latin typeface="Arial"/>
              </a:defRPr>
            </a:pPr>
            <a:r>
              <a:t>ALPHA HACK  /  БИЗНЕС-ИНСАЙТЫ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3640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65666E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77440"/>
            <a:ext cx="3017520" cy="137160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551176"/>
            <a:ext cx="2651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000" b="1">
                <a:solidFill>
                  <a:srgbClr val="16171A"/>
                </a:solidFill>
                <a:latin typeface="Arial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09544"/>
            <a:ext cx="26517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500" b="0">
                <a:solidFill>
                  <a:srgbClr val="65666E"/>
                </a:solidFill>
                <a:latin typeface="Arial"/>
              </a:defRPr>
            </a:pPr>
            <a:r>
              <a:t>JavaScript · Vite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377440"/>
            <a:ext cx="4754880" cy="1371600"/>
          </a:xfrm>
          <a:prstGeom prst="roundRect">
            <a:avLst>
              <a:gd name="adj" fmla="val 12000"/>
            </a:avLst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551176"/>
            <a:ext cx="4389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FastAPI + сервисы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9544"/>
            <a:ext cx="4389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Профиль · лента · реакции · разборы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0" y="2377440"/>
            <a:ext cx="3749039" cy="137160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59" y="2551176"/>
            <a:ext cx="33832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000" b="1">
                <a:solidFill>
                  <a:srgbClr val="16171A"/>
                </a:solidFill>
                <a:latin typeface="Arial"/>
              </a:defRPr>
            </a:pPr>
            <a:r>
              <a:t>PostgreSQL 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59" y="3209544"/>
            <a:ext cx="338327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500" b="0">
                <a:solidFill>
                  <a:srgbClr val="65666E"/>
                </a:solidFill>
                <a:latin typeface="Arial"/>
              </a:defRPr>
            </a:pPr>
            <a:r>
              <a:t>Данные · очередь · поиск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92040"/>
            <a:ext cx="3017520" cy="155448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5065776"/>
            <a:ext cx="2651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000" b="1">
                <a:solidFill>
                  <a:srgbClr val="16171A"/>
                </a:solidFill>
                <a:latin typeface="Arial"/>
              </a:defRPr>
            </a:pPr>
            <a:r>
              <a:t>Источники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5724144"/>
            <a:ext cx="26517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500" b="0">
                <a:solidFill>
                  <a:srgbClr val="65666E"/>
                </a:solidFill>
                <a:latin typeface="Arial"/>
              </a:defRPr>
            </a:pPr>
            <a:r>
              <a:t>RSS · MOEX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500" b="0">
                <a:solidFill>
                  <a:srgbClr val="65666E"/>
                </a:solidFill>
                <a:latin typeface="Arial"/>
              </a:defRPr>
            </a:pPr>
            <a:r>
              <a:t>CSV · отчёты банка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4892040"/>
            <a:ext cx="4754880" cy="1554480"/>
          </a:xfrm>
          <a:prstGeom prst="roundRect">
            <a:avLst>
              <a:gd name="adj" fmla="val 12000"/>
            </a:avLst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5065776"/>
            <a:ext cx="4389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Python worker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5724144"/>
            <a:ext cx="4389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Сбор · разметка · RAG-разборы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0" y="4892040"/>
            <a:ext cx="3749039" cy="155448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9" y="5065776"/>
            <a:ext cx="33832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000" b="1">
                <a:solidFill>
                  <a:srgbClr val="16171A"/>
                </a:solidFill>
                <a:latin typeface="Arial"/>
              </a:defRPr>
            </a:pPr>
            <a:r>
              <a:t>LLM-шлюз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59" y="5724144"/>
            <a:ext cx="338327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500" b="0">
                <a:solidFill>
                  <a:srgbClr val="65666E"/>
                </a:solidFill>
                <a:latin typeface="Arial"/>
              </a:defRPr>
            </a:pPr>
            <a:r>
              <a:t>Qwen · GLM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657600" y="3063240"/>
            <a:ext cx="868680" cy="0"/>
          </a:xfrm>
          <a:prstGeom prst="line">
            <a:avLst/>
          </a:prstGeom>
          <a:ln w="25400">
            <a:solidFill>
              <a:srgbClr val="EF3124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326880" y="3063240"/>
            <a:ext cx="868680" cy="0"/>
          </a:xfrm>
          <a:prstGeom prst="line">
            <a:avLst/>
          </a:prstGeom>
          <a:ln w="25400">
            <a:solidFill>
              <a:srgbClr val="EF3124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657600" y="5669280"/>
            <a:ext cx="868680" cy="0"/>
          </a:xfrm>
          <a:prstGeom prst="line">
            <a:avLst/>
          </a:prstGeom>
          <a:ln w="25400">
            <a:solidFill>
              <a:srgbClr val="EF3124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326880" y="5669280"/>
            <a:ext cx="868680" cy="0"/>
          </a:xfrm>
          <a:prstGeom prst="line">
            <a:avLst/>
          </a:prstGeom>
          <a:ln w="25400">
            <a:solidFill>
              <a:srgbClr val="EF3124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949440" y="3749039"/>
            <a:ext cx="0" cy="1097281"/>
          </a:xfrm>
          <a:prstGeom prst="line">
            <a:avLst/>
          </a:prstGeom>
          <a:ln w="25400">
            <a:solidFill>
              <a:srgbClr val="EF3124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132320" y="409651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65666E"/>
                </a:solidFill>
                <a:latin typeface="Arial"/>
              </a:defRPr>
            </a:pPr>
            <a:r>
              <a:t>очередь задач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9326880" y="3794760"/>
            <a:ext cx="1463040" cy="1508760"/>
          </a:xfrm>
          <a:prstGeom prst="line">
            <a:avLst/>
          </a:prstGeom>
          <a:ln w="25400">
            <a:solidFill>
              <a:srgbClr val="EF3124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058400" y="42062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65666E"/>
                </a:solidFill>
                <a:latin typeface="Arial"/>
              </a:defRPr>
            </a:pPr>
            <a:r>
              <a:t>чтение / запись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949440"/>
            <a:ext cx="1335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800" b="0">
                <a:solidFill>
                  <a:srgbClr val="65666E"/>
                </a:solidFill>
                <a:latin typeface="Arial"/>
              </a:defRPr>
            </a:pPr>
            <a:r>
              <a:t>Уточняющие вопросы вызывают агента через API. Очередь AI-задач хранится в PostgreSQL.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0584" cy="246888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97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65666E"/>
                </a:solidFill>
                <a:latin typeface="Arial"/>
              </a:defRPr>
            </a:pPr>
            <a:r>
              <a:t>ОБРАБОТКА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335024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3400" b="1">
                <a:solidFill>
                  <a:srgbClr val="16171A"/>
                </a:solidFill>
                <a:latin typeface="Arial"/>
              </a:defRPr>
            </a:pPr>
            <a:r>
              <a:t>От источника до персональной новости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754112"/>
            <a:ext cx="13350240" cy="12801"/>
          </a:xfrm>
          <a:prstGeom prst="rect">
            <a:avLst/>
          </a:prstGeom>
          <a:solidFill>
            <a:srgbClr val="E4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882127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666E"/>
                </a:solidFill>
                <a:latin typeface="Arial"/>
              </a:defRPr>
            </a:pPr>
            <a:r>
              <a:t>ALPHA HACK  /  БИЗНЕС-ИНСАЙТЫ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3640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65666E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4206240" cy="201168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594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EF312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3774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16171A"/>
                </a:solidFill>
                <a:latin typeface="Arial"/>
              </a:defRPr>
            </a:pPr>
            <a:r>
              <a:t>Сбор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81528"/>
            <a:ext cx="3749039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000" b="0">
                <a:solidFill>
                  <a:srgbClr val="65666E"/>
                </a:solidFill>
                <a:latin typeface="Arial"/>
              </a:defRPr>
            </a:pPr>
            <a:r>
              <a:t>RSS, CSV компаний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000" b="0">
                <a:solidFill>
                  <a:srgbClr val="65666E"/>
                </a:solidFill>
                <a:latin typeface="Arial"/>
              </a:defRPr>
            </a:pPr>
            <a:r>
              <a:t>и материалы банка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46320" y="3200400"/>
            <a:ext cx="292608" cy="0"/>
          </a:xfrm>
          <a:prstGeom prst="line">
            <a:avLst/>
          </a:prstGeom>
          <a:ln w="25400">
            <a:solidFill>
              <a:srgbClr val="EF3124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60" y="2194560"/>
            <a:ext cx="4206240" cy="201168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377440"/>
            <a:ext cx="594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EF312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3774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16171A"/>
                </a:solidFill>
                <a:latin typeface="Arial"/>
              </a:defRPr>
            </a:pPr>
            <a:r>
              <a:t>Нормализация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3081528"/>
            <a:ext cx="3749039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000" b="0">
                <a:solidFill>
                  <a:srgbClr val="65666E"/>
                </a:solidFill>
                <a:latin typeface="Arial"/>
              </a:defRPr>
            </a:pPr>
            <a:r>
              <a:t>Текст, дата, ссылка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000" b="0">
                <a:solidFill>
                  <a:srgbClr val="65666E"/>
                </a:solidFill>
                <a:latin typeface="Arial"/>
              </a:defRPr>
            </a:pPr>
            <a:r>
              <a:t>и удаление дублей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372600" y="3200400"/>
            <a:ext cx="292608" cy="0"/>
          </a:xfrm>
          <a:prstGeom prst="line">
            <a:avLst/>
          </a:prstGeom>
          <a:ln w="25400">
            <a:solidFill>
              <a:srgbClr val="EF3124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692640" y="2194560"/>
            <a:ext cx="4206240" cy="201168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21240" y="2377440"/>
            <a:ext cx="594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EF312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23774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16171A"/>
                </a:solidFill>
                <a:latin typeface="Arial"/>
              </a:defRPr>
            </a:pPr>
            <a:r>
              <a:t>AI-разметка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3081528"/>
            <a:ext cx="3749039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000" b="0">
                <a:solidFill>
                  <a:srgbClr val="65666E"/>
                </a:solidFill>
                <a:latin typeface="Arial"/>
              </a:defRPr>
            </a:pPr>
            <a:r>
              <a:t>Теги, география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000" b="0">
                <a:solidFill>
                  <a:srgbClr val="65666E"/>
                </a:solidFill>
                <a:latin typeface="Arial"/>
              </a:defRPr>
            </a:pPr>
            <a:r>
              <a:t>и деловая значимость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17720"/>
            <a:ext cx="4206240" cy="201168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0600"/>
            <a:ext cx="594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EF3124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80060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16171A"/>
                </a:solidFill>
                <a:latin typeface="Arial"/>
              </a:defRPr>
            </a:pPr>
            <a:r>
              <a:t>Профиль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504688"/>
            <a:ext cx="3749039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000" b="0">
                <a:solidFill>
                  <a:srgbClr val="65666E"/>
                </a:solidFill>
                <a:latin typeface="Arial"/>
              </a:defRPr>
            </a:pPr>
            <a:r>
              <a:t>Компания + роль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000" b="0">
                <a:solidFill>
                  <a:srgbClr val="65666E"/>
                </a:solidFill>
                <a:latin typeface="Arial"/>
              </a:defRPr>
            </a:pPr>
            <a:r>
              <a:t>+ интересы + реакции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46320" y="5623560"/>
            <a:ext cx="292608" cy="0"/>
          </a:xfrm>
          <a:prstGeom prst="line">
            <a:avLst/>
          </a:prstGeom>
          <a:ln w="25400">
            <a:solidFill>
              <a:srgbClr val="EF3124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66360" y="4617720"/>
            <a:ext cx="4206240" cy="201168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0" y="4800600"/>
            <a:ext cx="594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EF3124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480060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16171A"/>
                </a:solidFill>
                <a:latin typeface="Arial"/>
              </a:defRPr>
            </a:pPr>
            <a:r>
              <a:t>Ранжирование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5504688"/>
            <a:ext cx="3749039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000" b="0">
                <a:solidFill>
                  <a:srgbClr val="65666E"/>
                </a:solidFill>
                <a:latin typeface="Arial"/>
              </a:defRPr>
            </a:pPr>
            <a:r>
              <a:t>Отбор и сортировка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000" b="0">
                <a:solidFill>
                  <a:srgbClr val="65666E"/>
                </a:solidFill>
                <a:latin typeface="Arial"/>
              </a:defRPr>
            </a:pPr>
            <a:r>
              <a:t>по явным правилам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372600" y="5623560"/>
            <a:ext cx="292608" cy="0"/>
          </a:xfrm>
          <a:prstGeom prst="line">
            <a:avLst/>
          </a:prstGeom>
          <a:ln w="25400">
            <a:solidFill>
              <a:srgbClr val="EF3124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692640" y="4617720"/>
            <a:ext cx="4206240" cy="201168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21240" y="4800600"/>
            <a:ext cx="594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EF3124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480060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16171A"/>
                </a:solidFill>
                <a:latin typeface="Arial"/>
              </a:defRPr>
            </a:pPr>
            <a:r>
              <a:t>Снимок ленты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5504688"/>
            <a:ext cx="3749039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000" b="0">
                <a:solidFill>
                  <a:srgbClr val="65666E"/>
                </a:solidFill>
                <a:latin typeface="Arial"/>
              </a:defRPr>
            </a:pPr>
            <a:r>
              <a:t>Порядок, версия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000" b="0">
                <a:solidFill>
                  <a:srgbClr val="65666E"/>
                </a:solidFill>
                <a:latin typeface="Arial"/>
              </a:defRPr>
            </a:pPr>
            <a:r>
              <a:t>профиля и события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7269480"/>
            <a:ext cx="1335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65666E"/>
                </a:solidFill>
                <a:latin typeface="Arial"/>
              </a:defRPr>
            </a:pPr>
            <a:r>
              <a:t>104 подготовленные публикации в репозитории · свежие данные поступают через worker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0584" cy="246888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97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AAAAAF"/>
                </a:solidFill>
                <a:latin typeface="Arial"/>
              </a:defRPr>
            </a:pPr>
            <a:r>
              <a:t>РАНЖИРОВАНИЕ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335024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Релевантность можно объяснить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754112"/>
            <a:ext cx="13350240" cy="12801"/>
          </a:xfrm>
          <a:prstGeom prst="rect">
            <a:avLst/>
          </a:prstGeom>
          <a:solidFill>
            <a:srgbClr val="393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882127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AAAAAF"/>
                </a:solidFill>
                <a:latin typeface="Arial"/>
              </a:defRPr>
            </a:pPr>
            <a:r>
              <a:t>ALPHA HACK  /  БИЗНЕС-ИНСАЙТЫ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3640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AAAAA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68880"/>
            <a:ext cx="3108960" cy="2148840"/>
          </a:xfrm>
          <a:prstGeom prst="roundRect">
            <a:avLst>
              <a:gd name="adj" fmla="val 12000"/>
            </a:avLst>
          </a:prstGeom>
          <a:solidFill>
            <a:srgbClr val="25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EF3124"/>
                </a:solidFill>
                <a:latin typeface="Arial"/>
              </a:defRPr>
            </a:pPr>
            <a:r>
              <a:t>ТЕМЫ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8328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FFFFFF"/>
                </a:solidFill>
                <a:latin typeface="Arial"/>
              </a:defRPr>
            </a:pPr>
            <a:r>
              <a:t>Совпадение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FFFFFF"/>
                </a:solidFill>
                <a:latin typeface="Arial"/>
              </a:defRPr>
            </a:pPr>
            <a:r>
              <a:t>с интересами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6472" y="3291840"/>
            <a:ext cx="2560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2468880"/>
            <a:ext cx="3108960" cy="2148840"/>
          </a:xfrm>
          <a:prstGeom prst="roundRect">
            <a:avLst>
              <a:gd name="adj" fmla="val 12000"/>
            </a:avLst>
          </a:prstGeom>
          <a:solidFill>
            <a:srgbClr val="25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27432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EF3124"/>
                </a:solidFill>
                <a:latin typeface="Arial"/>
              </a:defRPr>
            </a:pPr>
            <a:r>
              <a:t>ЗНАЧИМОСТЬ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338328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FFFFFF"/>
                </a:solidFill>
                <a:latin typeface="Arial"/>
              </a:defRPr>
            </a:pPr>
            <a:r>
              <a:t>Деловой смысл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FFFFFF"/>
                </a:solidFill>
                <a:latin typeface="Arial"/>
              </a:defRPr>
            </a:pPr>
            <a:r>
              <a:t>события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3291840"/>
            <a:ext cx="2560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2468880"/>
            <a:ext cx="3108960" cy="2148840"/>
          </a:xfrm>
          <a:prstGeom prst="roundRect">
            <a:avLst>
              <a:gd name="adj" fmla="val 12000"/>
            </a:avLst>
          </a:prstGeom>
          <a:solidFill>
            <a:srgbClr val="25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27432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EF3124"/>
                </a:solidFill>
                <a:latin typeface="Arial"/>
              </a:defRPr>
            </a:pPr>
            <a:r>
              <a:t>СВЕЖЕСТЬ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338328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FFFFFF"/>
                </a:solidFill>
                <a:latin typeface="Arial"/>
              </a:defRPr>
            </a:pPr>
            <a:r>
              <a:t>Возраст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FFFFFF"/>
                </a:solidFill>
                <a:latin typeface="Arial"/>
              </a:defRPr>
            </a:pPr>
            <a:r>
              <a:t>публикации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43032" y="3291840"/>
            <a:ext cx="2560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89920" y="2468880"/>
            <a:ext cx="3108960" cy="2148840"/>
          </a:xfrm>
          <a:prstGeom prst="roundRect">
            <a:avLst>
              <a:gd name="adj" fmla="val 12000"/>
            </a:avLst>
          </a:prstGeom>
          <a:solidFill>
            <a:srgbClr val="25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18520" y="27432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EF3124"/>
                </a:solidFill>
                <a:latin typeface="Arial"/>
              </a:defRPr>
            </a:pPr>
            <a:r>
              <a:t>ГЕОГРАФИЯ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338328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FFFFFF"/>
                </a:solidFill>
                <a:latin typeface="Arial"/>
              </a:defRPr>
            </a:pPr>
            <a:r>
              <a:t>Связь с регионом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FFFFFF"/>
                </a:solidFill>
                <a:latin typeface="Arial"/>
              </a:defRPr>
            </a:pPr>
            <a:r>
              <a:t>деятельности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166360"/>
            <a:ext cx="1335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FFFFFF"/>
                </a:solidFill>
                <a:latin typeface="Arial"/>
              </a:defRPr>
            </a:pPr>
            <a:r>
              <a:t>Сначала связь с бизнесом. Затем порядок в ленте.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126480"/>
            <a:ext cx="12984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100" b="0">
                <a:solidFill>
                  <a:srgbClr val="C4C4CC"/>
                </a:solidFill>
                <a:latin typeface="Arial"/>
              </a:defRPr>
            </a:pPr>
            <a:r>
              <a:t>Локальное событие требует отраслевой или личной темы.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100" b="0">
                <a:solidFill>
                  <a:srgbClr val="C4C4CC"/>
                </a:solidFill>
                <a:latin typeface="Arial"/>
              </a:defRPr>
            </a:pPr>
            <a:r>
              <a:t>Неизвестная география не даёт бонус. Отключённая тема не повышает балл.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0584" cy="246888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97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65666E"/>
                </a:solidFill>
                <a:latin typeface="Arial"/>
              </a:defRPr>
            </a:pPr>
            <a:r>
              <a:t>RAG И ДОКАЗАТЕЛЬСТВА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335024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3400" b="1">
                <a:solidFill>
                  <a:srgbClr val="16171A"/>
                </a:solidFill>
                <a:latin typeface="Arial"/>
              </a:defRPr>
            </a:pPr>
            <a:r>
              <a:t>AI-агент: поиск, вывод, проверка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754112"/>
            <a:ext cx="13350240" cy="12801"/>
          </a:xfrm>
          <a:prstGeom prst="rect">
            <a:avLst/>
          </a:prstGeom>
          <a:solidFill>
            <a:srgbClr val="E4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882127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666E"/>
                </a:solidFill>
                <a:latin typeface="Arial"/>
              </a:defRPr>
            </a:pPr>
            <a:r>
              <a:t>ALPHA HACK  /  БИЗНЕС-ИНСАЙТЫ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3640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65666E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4297680" cy="260604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800" b="1">
                <a:solidFill>
                  <a:srgbClr val="EF312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63239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16171A"/>
                </a:solidFill>
                <a:latin typeface="Arial"/>
              </a:defRPr>
            </a:pPr>
            <a:r>
              <a:t>Контекст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40480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800" b="0">
                <a:solidFill>
                  <a:srgbClr val="65666E"/>
                </a:solidFill>
                <a:latin typeface="Arial"/>
              </a:defRPr>
            </a:pPr>
            <a:r>
              <a:t>Новость + снимок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800" b="0">
                <a:solidFill>
                  <a:srgbClr val="65666E"/>
                </a:solidFill>
                <a:latin typeface="Arial"/>
              </a:defRPr>
            </a:pPr>
            <a:r>
              <a:t>профиля компании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2194560"/>
            <a:ext cx="4297680" cy="260604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2395728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800" b="1">
                <a:solidFill>
                  <a:srgbClr val="EF312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063239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16171A"/>
                </a:solidFill>
                <a:latin typeface="Arial"/>
              </a:defRPr>
            </a:pPr>
            <a:r>
              <a:t>Поиск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840480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800" b="0">
                <a:solidFill>
                  <a:srgbClr val="65666E"/>
                </a:solidFill>
                <a:latin typeface="Arial"/>
              </a:defRPr>
            </a:pPr>
            <a:r>
              <a:t>До 3 запросов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800" b="0">
                <a:solidFill>
                  <a:srgbClr val="65666E"/>
                </a:solidFill>
                <a:latin typeface="Arial"/>
              </a:defRPr>
            </a:pPr>
            <a:r>
              <a:t>по отчётам банка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2194560"/>
            <a:ext cx="4297680" cy="260604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2395728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800" b="1">
                <a:solidFill>
                  <a:srgbClr val="EF312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3063239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16171A"/>
                </a:solidFill>
                <a:latin typeface="Arial"/>
              </a:defRPr>
            </a:pPr>
            <a:r>
              <a:t>Черновик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3840480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800" b="0">
                <a:solidFill>
                  <a:srgbClr val="65666E"/>
                </a:solidFill>
                <a:latin typeface="Arial"/>
              </a:defRPr>
            </a:pPr>
            <a:r>
              <a:t>Выводы + ID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800" b="0">
                <a:solidFill>
                  <a:srgbClr val="65666E"/>
                </a:solidFill>
                <a:latin typeface="Arial"/>
              </a:defRPr>
            </a:pPr>
            <a:r>
              <a:t>подтверждающих отрывков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37760" y="3474720"/>
            <a:ext cx="201168" cy="0"/>
          </a:xfrm>
          <a:prstGeom prst="line">
            <a:avLst/>
          </a:prstGeom>
          <a:ln w="25400">
            <a:solidFill>
              <a:srgbClr val="EF3124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464040" y="3474720"/>
            <a:ext cx="210312" cy="0"/>
          </a:xfrm>
          <a:prstGeom prst="line">
            <a:avLst/>
          </a:prstGeom>
          <a:ln w="25400">
            <a:solidFill>
              <a:srgbClr val="EF3124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0080" y="5577840"/>
            <a:ext cx="4297680" cy="146304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5751576"/>
            <a:ext cx="3931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000" b="1">
                <a:solidFill>
                  <a:srgbClr val="16171A"/>
                </a:solidFill>
                <a:latin typeface="Arial"/>
              </a:defRPr>
            </a:pPr>
            <a:r>
              <a:t>Проверка сервером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6409944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500" b="0">
                <a:solidFill>
                  <a:srgbClr val="65666E"/>
                </a:solidFill>
                <a:latin typeface="Arial"/>
              </a:defRPr>
            </a:pPr>
            <a:r>
              <a:t>JSON · цитаты · признаки компании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66360" y="5577840"/>
            <a:ext cx="4297680" cy="146304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9240" y="5751576"/>
            <a:ext cx="3931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000" b="1">
                <a:solidFill>
                  <a:srgbClr val="16171A"/>
                </a:solidFill>
                <a:latin typeface="Arial"/>
              </a:defRPr>
            </a:pPr>
            <a:r>
              <a:t>Проверка моделью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6409944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500" b="0">
                <a:solidFill>
                  <a:srgbClr val="65666E"/>
                </a:solidFill>
                <a:latin typeface="Arial"/>
              </a:defRPr>
            </a:pPr>
            <a:r>
              <a:t>Подтверждённость каждого вывода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92640" y="5577840"/>
            <a:ext cx="4297680" cy="1463040"/>
          </a:xfrm>
          <a:prstGeom prst="roundRect">
            <a:avLst>
              <a:gd name="adj" fmla="val 12000"/>
            </a:avLst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19" y="5751576"/>
            <a:ext cx="3931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Готовый разбор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19" y="6409944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Результат + источники + ограничения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1841480" y="4800600"/>
            <a:ext cx="0" cy="365760"/>
          </a:xfrm>
          <a:prstGeom prst="line">
            <a:avLst/>
          </a:prstGeom>
          <a:ln w="25400">
            <a:solidFill>
              <a:srgbClr val="EF3124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2788920" y="5166360"/>
            <a:ext cx="9052560" cy="0"/>
          </a:xfrm>
          <a:prstGeom prst="line">
            <a:avLst/>
          </a:prstGeom>
          <a:ln w="25400">
            <a:solidFill>
              <a:srgbClr val="EF3124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788920" y="5166360"/>
            <a:ext cx="0" cy="393192"/>
          </a:xfrm>
          <a:prstGeom prst="line">
            <a:avLst/>
          </a:prstGeom>
          <a:ln w="25400">
            <a:solidFill>
              <a:srgbClr val="EF3124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937760" y="6309360"/>
            <a:ext cx="201168" cy="0"/>
          </a:xfrm>
          <a:prstGeom prst="line">
            <a:avLst/>
          </a:prstGeom>
          <a:ln w="25400">
            <a:solidFill>
              <a:srgbClr val="EF3124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464040" y="6309360"/>
            <a:ext cx="210312" cy="0"/>
          </a:xfrm>
          <a:prstGeom prst="line">
            <a:avLst/>
          </a:prstGeom>
          <a:ln w="25400">
            <a:solidFill>
              <a:srgbClr val="EF3124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0080" y="7269480"/>
            <a:ext cx="1335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65666E"/>
                </a:solidFill>
                <a:latin typeface="Arial"/>
              </a:defRPr>
            </a:pPr>
            <a:r>
              <a:t>При замечаниях — один цикл коррекции. Неподтверждённый результат не публикуется.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0584" cy="246888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97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65666E"/>
                </a:solidFill>
                <a:latin typeface="Arial"/>
              </a:defRPr>
            </a:pPr>
            <a:r>
              <a:t>AI-РАЗБОР В ИНТЕРФЕЙСЕ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335024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3400" b="1">
                <a:solidFill>
                  <a:srgbClr val="16171A"/>
                </a:solidFill>
                <a:latin typeface="Arial"/>
              </a:defRPr>
            </a:pPr>
            <a:r>
              <a:t>Вывод можно раскрыть до первоисточника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754112"/>
            <a:ext cx="13350240" cy="12801"/>
          </a:xfrm>
          <a:prstGeom prst="rect">
            <a:avLst/>
          </a:prstGeom>
          <a:solidFill>
            <a:srgbClr val="E4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882127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666E"/>
                </a:solidFill>
                <a:latin typeface="Arial"/>
              </a:defRPr>
            </a:pPr>
            <a:r>
              <a:t>ALPHA HACK  /  БИЗНЕС-ИНСАЙТЫ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3640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65666E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2130552"/>
            <a:ext cx="8631936" cy="5340096"/>
          </a:xfrm>
          <a:prstGeom prst="rect">
            <a:avLst/>
          </a:prstGeom>
          <a:solidFill>
            <a:srgbClr val="F3F3F5"/>
          </a:solidFill>
          <a:ln w="12700">
            <a:solidFill>
              <a:srgbClr val="E4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48840"/>
            <a:ext cx="7955279" cy="5303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738360" y="2331720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EF3124"/>
                </a:solidFill>
                <a:latin typeface="Arial"/>
              </a:defRPr>
            </a:pPr>
            <a:r>
              <a:t>Факт → источник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8360" y="2990087"/>
            <a:ext cx="42519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900" b="0">
                <a:solidFill>
                  <a:srgbClr val="65666E"/>
                </a:solidFill>
                <a:latin typeface="Arial"/>
              </a:defRPr>
            </a:pPr>
            <a:r>
              <a:t>Цитата связана с конкретным выводом.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3886200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EF3124"/>
                </a:solidFill>
                <a:latin typeface="Arial"/>
              </a:defRPr>
            </a:pPr>
            <a:r>
              <a:t>Вывод → компания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4544568"/>
            <a:ext cx="42519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900" b="0">
                <a:solidFill>
                  <a:srgbClr val="65666E"/>
                </a:solidFill>
                <a:latin typeface="Arial"/>
              </a:defRPr>
            </a:pPr>
            <a:r>
              <a:t>Видно, какие данные профиля использованы.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5440680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EF3124"/>
                </a:solidFill>
                <a:latin typeface="Arial"/>
              </a:defRPr>
            </a:pPr>
            <a:r>
              <a:t>Вопрос → контекст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6099048"/>
            <a:ext cx="42519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900" b="0">
                <a:solidFill>
                  <a:srgbClr val="65666E"/>
                </a:solidFill>
                <a:latin typeface="Arial"/>
              </a:defRPr>
            </a:pPr>
            <a:r>
              <a:t>Уточнение опирается на исходный разбор.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7443216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65666E"/>
                </a:solidFill>
                <a:latin typeface="Arial"/>
              </a:defRPr>
            </a:pPr>
            <a:r>
              <a:t>Снимок приложения · демонстрационный сценарий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0584" cy="246888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97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65666E"/>
                </a:solidFill>
                <a:latin typeface="Arial"/>
              </a:defRPr>
            </a:pPr>
            <a:r>
              <a:t>БЕЗОПАСНОСТЬ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335024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3400" b="1">
                <a:solidFill>
                  <a:srgbClr val="16171A"/>
                </a:solidFill>
                <a:latin typeface="Arial"/>
              </a:defRPr>
            </a:pPr>
            <a:r>
              <a:t>Защита от вредоносных инструкций и кода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754112"/>
            <a:ext cx="13350240" cy="12801"/>
          </a:xfrm>
          <a:prstGeom prst="rect">
            <a:avLst/>
          </a:prstGeom>
          <a:solidFill>
            <a:srgbClr val="E4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882127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666E"/>
                </a:solidFill>
                <a:latin typeface="Arial"/>
              </a:defRPr>
            </a:pPr>
            <a:r>
              <a:t>ALPHA HACK  /  БИЗНЕС-ИНСАЙТЫ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3640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65666E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9509760" cy="100584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5915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200" b="1">
                <a:solidFill>
                  <a:srgbClr val="EF312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258568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16171A"/>
                </a:solidFill>
                <a:latin typeface="Arial"/>
              </a:defRPr>
            </a:pPr>
            <a:r>
              <a:t>Данные отделены от команд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715768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65666E"/>
                </a:solidFill>
                <a:latin typeface="Arial"/>
              </a:defRPr>
            </a:pPr>
            <a:r>
              <a:t>Инструкции внутри новости или отчёта не являются задачей агента.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37560"/>
            <a:ext cx="9509760" cy="100584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54787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200" b="1">
                <a:solidFill>
                  <a:srgbClr val="EF312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447288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16171A"/>
                </a:solidFill>
                <a:latin typeface="Arial"/>
              </a:defRPr>
            </a:pPr>
            <a:r>
              <a:t>Нет инструмента исполнения кода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904488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65666E"/>
                </a:solidFill>
                <a:latin typeface="Arial"/>
              </a:defRPr>
            </a:pPr>
            <a:r>
              <a:t>Модели не предоставлены shell, Python и произвольные файловые действия.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26280"/>
            <a:ext cx="9509760" cy="100584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73659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200" b="1">
                <a:solidFill>
                  <a:srgbClr val="EF312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636008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16171A"/>
                </a:solidFill>
                <a:latin typeface="Arial"/>
              </a:defRPr>
            </a:pPr>
            <a:r>
              <a:t>Ответ проходит строгую схему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093208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65666E"/>
                </a:solidFill>
                <a:latin typeface="Arial"/>
              </a:defRPr>
            </a:pPr>
            <a:r>
              <a:t>JSON, разрешённые теги, ограничения полей и размеров.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715000"/>
            <a:ext cx="9509760" cy="100584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92531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200" b="1">
                <a:solidFill>
                  <a:srgbClr val="EF3124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824728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16171A"/>
                </a:solidFill>
                <a:latin typeface="Arial"/>
              </a:defRPr>
            </a:pPr>
            <a:r>
              <a:t>Вывод проходит проверку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6281928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65666E"/>
                </a:solidFill>
                <a:latin typeface="Arial"/>
              </a:defRPr>
            </a:pPr>
            <a:r>
              <a:t>Сервер сверяет источники и цитаты; модель проверяет обоснованность.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52760" y="2148840"/>
            <a:ext cx="3337560" cy="4572000"/>
          </a:xfrm>
          <a:prstGeom prst="roundRect">
            <a:avLst>
              <a:gd name="adj" fmla="val 12000"/>
            </a:avLst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2651760"/>
            <a:ext cx="2697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3657600"/>
            <a:ext cx="26974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500" b="1">
                <a:solidFill>
                  <a:srgbClr val="FFFFFF"/>
                </a:solidFill>
                <a:latin typeface="Arial"/>
              </a:defRPr>
            </a:pPr>
            <a:r>
              <a:t>Проверяемый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500" b="1">
                <a:solidFill>
                  <a:srgbClr val="FFFFFF"/>
                </a:solidFill>
                <a:latin typeface="Arial"/>
              </a:defRPr>
            </a:pPr>
            <a:r>
              <a:t>контракт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500" b="1">
                <a:solidFill>
                  <a:srgbClr val="FFFFFF"/>
                </a:solidFill>
                <a:latin typeface="Arial"/>
              </a:defRPr>
            </a:pPr>
            <a:r>
              <a:t>вместо доступа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500" b="1">
                <a:solidFill>
                  <a:srgbClr val="FFFFFF"/>
                </a:solidFill>
                <a:latin typeface="Arial"/>
              </a:defRPr>
            </a:pPr>
            <a:r>
              <a:t>к исполнению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7178040"/>
            <a:ext cx="1335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65666E"/>
                </a:solidFill>
                <a:latin typeface="Arial"/>
              </a:defRPr>
            </a:pPr>
            <a:r>
              <a:t>Дополнительно: HTTPS, запрет редиректов с ключом, лимиты запросов и контроль бюджета.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0584" cy="246888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97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65666E"/>
                </a:solidFill>
                <a:latin typeface="Arial"/>
              </a:defRPr>
            </a:pPr>
            <a:r>
              <a:t>СТЕК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335024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3400" b="1">
                <a:solidFill>
                  <a:srgbClr val="16171A"/>
                </a:solidFill>
                <a:latin typeface="Arial"/>
              </a:defRPr>
            </a:pPr>
            <a:r>
              <a:t>Технологии по слоям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754112"/>
            <a:ext cx="13350240" cy="12801"/>
          </a:xfrm>
          <a:prstGeom prst="rect">
            <a:avLst/>
          </a:prstGeom>
          <a:solidFill>
            <a:srgbClr val="E4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882127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666E"/>
                </a:solidFill>
                <a:latin typeface="Arial"/>
              </a:defRPr>
            </a:pPr>
            <a:r>
              <a:t>ALPHA HACK  /  БИЗНЕС-ИНСАЙТЫ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3640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65666E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40280"/>
            <a:ext cx="4297680" cy="214884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423160"/>
            <a:ext cx="1188720" cy="384048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87168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EF3124"/>
                </a:solidFill>
                <a:latin typeface="Arial"/>
              </a:defRPr>
            </a:pPr>
            <a:r>
              <a:t>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1752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16171A"/>
                </a:solidFill>
                <a:latin typeface="Arial"/>
              </a:defRPr>
            </a:pPr>
            <a:r>
              <a:t>JavaScript + Vite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03320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65666E"/>
                </a:solidFill>
                <a:latin typeface="Arial"/>
              </a:defRPr>
            </a:pPr>
            <a:r>
              <a:t>HTML / CSS · адаптивный интерфейс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65666E"/>
                </a:solidFill>
                <a:latin typeface="Arial"/>
              </a:defRPr>
            </a:pPr>
            <a:r>
              <a:t>Node.js 22.12+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2240280"/>
            <a:ext cx="4297680" cy="214884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94960" y="2423160"/>
            <a:ext cx="1188720" cy="384048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2487168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EF3124"/>
                </a:solidFill>
                <a:latin typeface="Arial"/>
              </a:defRPr>
            </a:pPr>
            <a:r>
              <a:t>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301752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16171A"/>
                </a:solidFill>
                <a:latin typeface="Arial"/>
              </a:defRPr>
            </a:pPr>
            <a:r>
              <a:t>Python 3.12 + 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703320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65666E"/>
                </a:solidFill>
                <a:latin typeface="Arial"/>
              </a:defRPr>
            </a:pPr>
            <a:r>
              <a:t>Uvicorn · Pydantic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65666E"/>
                </a:solidFill>
                <a:latin typeface="Arial"/>
              </a:defRPr>
            </a:pPr>
            <a:r>
              <a:t>HTTP / 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2240280"/>
            <a:ext cx="4297680" cy="214884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921240" y="2423160"/>
            <a:ext cx="1188720" cy="384048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2680" y="2487168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EF3124"/>
                </a:solidFill>
                <a:latin typeface="Arial"/>
              </a:defRPr>
            </a:pPr>
            <a: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301752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16171A"/>
                </a:solidFill>
                <a:latin typeface="Arial"/>
              </a:defRPr>
            </a:pPr>
            <a:r>
              <a:t>PostgreSQL 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3703320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65666E"/>
                </a:solidFill>
                <a:latin typeface="Arial"/>
              </a:defRPr>
            </a:pPr>
            <a:r>
              <a:t>SQLAlchemy · psycopg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65666E"/>
                </a:solidFill>
                <a:latin typeface="Arial"/>
              </a:defRPr>
            </a:pPr>
            <a:r>
              <a:t>JSONB · полнотекстовый поиск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663440"/>
            <a:ext cx="4297680" cy="214884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8680" y="4846320"/>
            <a:ext cx="1188720" cy="384048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910328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EF3124"/>
                </a:solidFill>
                <a:latin typeface="Arial"/>
              </a:defRPr>
            </a:pPr>
            <a:r>
              <a:t>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440679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16171A"/>
                </a:solidFill>
                <a:latin typeface="Arial"/>
              </a:defRPr>
            </a:pPr>
            <a:r>
              <a:t>Qwen + GLM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6126479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65666E"/>
                </a:solidFill>
                <a:latin typeface="Arial"/>
              </a:defRPr>
            </a:pPr>
            <a:r>
              <a:t>Разметка · контекст · анализ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65666E"/>
                </a:solidFill>
                <a:latin typeface="Arial"/>
              </a:defRPr>
            </a:pPr>
            <a:r>
              <a:t>Собственный RAG-оркестратор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66360" y="4663440"/>
            <a:ext cx="4297680" cy="214884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394960" y="4846320"/>
            <a:ext cx="1188720" cy="384048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0" y="4910328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EF3124"/>
                </a:solidFill>
                <a:latin typeface="Arial"/>
              </a:defRPr>
            </a:pPr>
            <a:r>
              <a:t>INGEST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5440679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16171A"/>
                </a:solidFill>
                <a:latin typeface="Arial"/>
              </a:defRPr>
            </a:pPr>
            <a:r>
              <a:t>RSS / MOEX / документы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6126479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65666E"/>
                </a:solidFill>
                <a:latin typeface="Arial"/>
              </a:defRPr>
            </a:pPr>
            <a:r>
              <a:t>httpx · feedparser · pandas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65666E"/>
                </a:solidFill>
                <a:latin typeface="Arial"/>
              </a:defRPr>
            </a:pPr>
            <a:r>
              <a:t>PyMuPDF / Tesseract для PDF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92640" y="4663440"/>
            <a:ext cx="4297680" cy="214884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921240" y="4846320"/>
            <a:ext cx="1188720" cy="384048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12680" y="4910328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EF3124"/>
                </a:solidFill>
                <a:latin typeface="Arial"/>
              </a:defRPr>
            </a:pPr>
            <a:r>
              <a:t>CHECKS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5440679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16171A"/>
                </a:solidFill>
                <a:latin typeface="Arial"/>
              </a:defRPr>
            </a:pPr>
            <a:r>
              <a:t>pytest + Node test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1240" y="6126479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65666E"/>
                </a:solidFill>
                <a:latin typeface="Arial"/>
              </a:defRPr>
            </a:pPr>
            <a:r>
              <a:t>Mock LLM · тесты API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65666E"/>
                </a:solidFill>
                <a:latin typeface="Arial"/>
              </a:defRPr>
            </a:pPr>
            <a:r>
              <a:t>Docker Compose для БД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0584" cy="246888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97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65666E"/>
                </a:solidFill>
                <a:latin typeface="Arial"/>
              </a:defRPr>
            </a:pPr>
            <a:r>
              <a:t>МОДЕЛЬ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335024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3400" b="1">
                <a:solidFill>
                  <a:srgbClr val="16171A"/>
                </a:solidFill>
                <a:latin typeface="Arial"/>
              </a:defRPr>
            </a:pPr>
            <a:r>
              <a:t>Данные сохраняют контекст решения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754112"/>
            <a:ext cx="13350240" cy="12801"/>
          </a:xfrm>
          <a:prstGeom prst="rect">
            <a:avLst/>
          </a:prstGeom>
          <a:solidFill>
            <a:srgbClr val="E4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882127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666E"/>
                </a:solidFill>
                <a:latin typeface="Arial"/>
              </a:defRPr>
            </a:pPr>
            <a:r>
              <a:t>ALPHA HACK  /  БИЗНЕС-ИНСАЙТЫ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3640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65666E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77440"/>
            <a:ext cx="3657600" cy="146304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551176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000" b="1">
                <a:solidFill>
                  <a:srgbClr val="16171A"/>
                </a:solidFill>
                <a:latin typeface="Arial"/>
              </a:defRPr>
            </a:pPr>
            <a:r>
              <a:t>Компания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09544"/>
            <a:ext cx="32918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500" b="0">
                <a:solidFill>
                  <a:srgbClr val="65666E"/>
                </a:solidFill>
                <a:latin typeface="Arial"/>
              </a:defRPr>
            </a:pPr>
            <a:r>
              <a:t>Профиль · корпоративные теги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2377440"/>
            <a:ext cx="3657600" cy="146304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2551176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000" b="1">
                <a:solidFill>
                  <a:srgbClr val="16171A"/>
                </a:solidFill>
                <a:latin typeface="Arial"/>
              </a:defRPr>
            </a:pPr>
            <a:r>
              <a:t>Снимок контекста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3209544"/>
            <a:ext cx="32918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500" b="0">
                <a:solidFill>
                  <a:srgbClr val="65666E"/>
                </a:solidFill>
                <a:latin typeface="Arial"/>
              </a:defRPr>
            </a:pPr>
            <a:r>
              <a:t>Факты компании на момент разбора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32720" y="2377440"/>
            <a:ext cx="3657600" cy="1463040"/>
          </a:xfrm>
          <a:prstGeom prst="roundRect">
            <a:avLst>
              <a:gd name="adj" fmla="val 12000"/>
            </a:avLst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2551176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AI-разбор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3209544"/>
            <a:ext cx="32918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Выводы · версии · источники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120640"/>
            <a:ext cx="3657600" cy="146304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5294376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000" b="1">
                <a:solidFill>
                  <a:srgbClr val="16171A"/>
                </a:solidFill>
                <a:latin typeface="Arial"/>
              </a:defRPr>
            </a:pPr>
            <a:r>
              <a:t>Пользователь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5952744"/>
            <a:ext cx="32918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500" b="0">
                <a:solidFill>
                  <a:srgbClr val="65666E"/>
                </a:solidFill>
                <a:latin typeface="Arial"/>
              </a:defRPr>
            </a:pPr>
            <a:r>
              <a:t>Роль · темы · реакции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5120640"/>
            <a:ext cx="3657600" cy="146304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5294376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000" b="1">
                <a:solidFill>
                  <a:srgbClr val="16171A"/>
                </a:solidFill>
                <a:latin typeface="Arial"/>
              </a:defRPr>
            </a:pPr>
            <a:r>
              <a:t>Снимок ленты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5952744"/>
            <a:ext cx="32918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500" b="0">
                <a:solidFill>
                  <a:srgbClr val="65666E"/>
                </a:solidFill>
                <a:latin typeface="Arial"/>
              </a:defRPr>
            </a:pPr>
            <a:r>
              <a:t>Порядок · оценки · новости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32720" y="5120640"/>
            <a:ext cx="3657600" cy="146304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0" y="5294376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000" b="1">
                <a:solidFill>
                  <a:srgbClr val="16171A"/>
                </a:solidFill>
                <a:latin typeface="Arial"/>
              </a:defRPr>
            </a:pPr>
            <a:r>
              <a:t>Отчёты и фрагменты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5952744"/>
            <a:ext cx="32918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500" b="0">
                <a:solidFill>
                  <a:srgbClr val="65666E"/>
                </a:solidFill>
                <a:latin typeface="Arial"/>
              </a:defRPr>
            </a:pPr>
            <a:r>
              <a:t>Документ · страница · цитата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297680" y="3108960"/>
            <a:ext cx="1143000" cy="0"/>
          </a:xfrm>
          <a:prstGeom prst="line">
            <a:avLst/>
          </a:prstGeom>
          <a:ln w="25400">
            <a:solidFill>
              <a:srgbClr val="EF3124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144000" y="3108960"/>
            <a:ext cx="1143000" cy="0"/>
          </a:xfrm>
          <a:prstGeom prst="line">
            <a:avLst/>
          </a:prstGeom>
          <a:ln w="25400">
            <a:solidFill>
              <a:srgbClr val="EF3124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468880" y="3840480"/>
            <a:ext cx="0" cy="1234440"/>
          </a:xfrm>
          <a:prstGeom prst="line">
            <a:avLst/>
          </a:prstGeom>
          <a:ln w="25400">
            <a:solidFill>
              <a:srgbClr val="EF3124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297680" y="5852160"/>
            <a:ext cx="1143000" cy="0"/>
          </a:xfrm>
          <a:prstGeom prst="line">
            <a:avLst/>
          </a:prstGeom>
          <a:ln w="25400">
            <a:solidFill>
              <a:srgbClr val="EF3124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315200" y="3840480"/>
            <a:ext cx="0" cy="1234440"/>
          </a:xfrm>
          <a:prstGeom prst="line">
            <a:avLst/>
          </a:prstGeom>
          <a:ln w="25400">
            <a:solidFill>
              <a:srgbClr val="EF3124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2161520" y="3886200"/>
            <a:ext cx="0" cy="1234440"/>
          </a:xfrm>
          <a:prstGeom prst="line">
            <a:avLst/>
          </a:prstGeom>
          <a:ln w="25400">
            <a:solidFill>
              <a:srgbClr val="EF3124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0080" y="7132320"/>
            <a:ext cx="1335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65666E"/>
                </a:solidFill>
                <a:latin typeface="Arial"/>
              </a:defRPr>
            </a:pPr>
            <a:r>
              <a:t>Схема основных связей · источники разбора сохраняются как ссылки в результате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0584" cy="246888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97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65666E"/>
                </a:solidFill>
                <a:latin typeface="Arial"/>
              </a:defRPr>
            </a:pPr>
            <a:r>
              <a:t>РАБОТА СЕРВИСА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335024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3400" b="1">
                <a:solidFill>
                  <a:srgbClr val="16171A"/>
                </a:solidFill>
                <a:latin typeface="Arial"/>
              </a:defRPr>
            </a:pPr>
            <a:r>
              <a:t>Фоновая обработка и управляемый расход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754112"/>
            <a:ext cx="13350240" cy="12801"/>
          </a:xfrm>
          <a:prstGeom prst="rect">
            <a:avLst/>
          </a:prstGeom>
          <a:solidFill>
            <a:srgbClr val="E4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882127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666E"/>
                </a:solidFill>
                <a:latin typeface="Arial"/>
              </a:defRPr>
            </a:pPr>
            <a:r>
              <a:t>ALPHA HACK  /  БИЗНЕС-ИНСАЙТЫ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3640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65666E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7863840" cy="841248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100" b="1">
                <a:solidFill>
                  <a:srgbClr val="16171A"/>
                </a:solidFill>
                <a:latin typeface="Arial"/>
              </a:defRPr>
            </a:pPr>
            <a:r>
              <a:t>RSS + MOEX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54203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EF3124"/>
                </a:solidFill>
                <a:latin typeface="Arial"/>
              </a:defRPr>
            </a:pPr>
            <a:r>
              <a:t>15 минут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37560"/>
            <a:ext cx="7863840" cy="841248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6616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100" b="1">
                <a:solidFill>
                  <a:srgbClr val="16171A"/>
                </a:solidFill>
                <a:latin typeface="Arial"/>
              </a:defRPr>
            </a:pPr>
            <a:r>
              <a:t>Разметка новости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3593591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EF3124"/>
                </a:solidFill>
                <a:latin typeface="Arial"/>
              </a:defRPr>
            </a:pPr>
            <a:r>
              <a:t>5 минут / 1 запись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89120"/>
            <a:ext cx="7863840" cy="841248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100" b="1">
                <a:solidFill>
                  <a:srgbClr val="16171A"/>
                </a:solidFill>
                <a:latin typeface="Arial"/>
              </a:defRPr>
            </a:pPr>
            <a:r>
              <a:t>Разметка компании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464515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EF3124"/>
                </a:solidFill>
                <a:latin typeface="Arial"/>
              </a:defRPr>
            </a:pPr>
            <a:r>
              <a:t>2 минуты / 1 профиль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40679"/>
            <a:ext cx="7863840" cy="841248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669279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100" b="1">
                <a:solidFill>
                  <a:srgbClr val="16171A"/>
                </a:solidFill>
                <a:latin typeface="Arial"/>
              </a:defRPr>
            </a:pPr>
            <a:r>
              <a:t>Очередь разборов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569671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EF3124"/>
                </a:solidFill>
                <a:latin typeface="Arial"/>
              </a:defRPr>
            </a:pPr>
            <a:r>
              <a:t>5 секунд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2286000"/>
            <a:ext cx="4846320" cy="4023360"/>
          </a:xfrm>
          <a:prstGeom prst="roundRect">
            <a:avLst>
              <a:gd name="adj" fmla="val 12000"/>
            </a:avLst>
          </a:prstGeom>
          <a:solidFill>
            <a:srgbClr val="16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260604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5500" b="1">
                <a:solidFill>
                  <a:srgbClr val="FFFFFF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3566160"/>
            <a:ext cx="4114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попыток LLM за сутки в одной БД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448056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4900" b="1">
                <a:solidFill>
                  <a:srgbClr val="FFFFFF"/>
                </a:solidFill>
                <a:latin typeface="Arial"/>
              </a:defRPr>
            </a:pPr>
            <a:r>
              <a:t>50 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5440680"/>
            <a:ext cx="4114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резерв общего бюджета команды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7040880"/>
            <a:ext cx="1335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800" b="0">
                <a:solidFill>
                  <a:srgbClr val="65666E"/>
                </a:solidFill>
                <a:latin typeface="Arial"/>
              </a:defRPr>
            </a:pPr>
            <a:r>
              <a:t>Значения по умолчанию из конфигурации. Готовые разборы кешируются с учётом версий.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0584" cy="246888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97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65666E"/>
                </a:solidFill>
                <a:latin typeface="Arial"/>
              </a:defRPr>
            </a:pPr>
            <a:r>
              <a:t>ВОСПРОИЗВОДИМОСТЬ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335024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3400" b="1">
                <a:solidFill>
                  <a:srgbClr val="16171A"/>
                </a:solidFill>
                <a:latin typeface="Arial"/>
              </a:defRPr>
            </a:pPr>
            <a:r>
              <a:t>Запуск и проверка перед демонстрацией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754112"/>
            <a:ext cx="13350240" cy="12801"/>
          </a:xfrm>
          <a:prstGeom prst="rect">
            <a:avLst/>
          </a:prstGeom>
          <a:solidFill>
            <a:srgbClr val="E4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882127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666E"/>
                </a:solidFill>
                <a:latin typeface="Arial"/>
              </a:defRPr>
            </a:pPr>
            <a:r>
              <a:t>ALPHA HACK  /  БИЗНЕС-ИНСАЙТЫ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3640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65666E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40280"/>
            <a:ext cx="4297680" cy="301752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41448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800" b="1">
                <a:solidFill>
                  <a:srgbClr val="EF312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08960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16171A"/>
                </a:solidFill>
                <a:latin typeface="Arial"/>
              </a:defRPr>
            </a:pPr>
            <a:r>
              <a:t>Интерфейс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86200"/>
            <a:ext cx="3840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800" b="0">
                <a:solidFill>
                  <a:srgbClr val="65666E"/>
                </a:solidFill>
                <a:latin typeface="Arial"/>
              </a:defRPr>
            </a:pPr>
            <a:r>
              <a:t>Node.js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800" b="0">
                <a:solidFill>
                  <a:srgbClr val="65666E"/>
                </a:solidFill>
                <a:latin typeface="Arial"/>
              </a:defRPr>
            </a:pPr>
            <a:r>
              <a:t>npm ci → npm run 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2240280"/>
            <a:ext cx="4297680" cy="301752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2441448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800" b="1">
                <a:solidFill>
                  <a:srgbClr val="EF312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108960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16171A"/>
                </a:solidFill>
                <a:latin typeface="Arial"/>
              </a:defRPr>
            </a:pPr>
            <a:r>
              <a:t>API + данные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886200"/>
            <a:ext cx="3840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800" b="0">
                <a:solidFill>
                  <a:srgbClr val="65666E"/>
                </a:solidFill>
                <a:latin typeface="Arial"/>
              </a:defRPr>
            </a:pPr>
            <a:r>
              <a:t>Python + PostgreSQL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800" b="0">
                <a:solidFill>
                  <a:srgbClr val="65666E"/>
                </a:solidFill>
                <a:latin typeface="Arial"/>
              </a:defRPr>
            </a:pPr>
            <a:r>
              <a:t>init_db → demo_data →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2240280"/>
            <a:ext cx="4297680" cy="3017520"/>
          </a:xfrm>
          <a:prstGeom prst="roundRect">
            <a:avLst>
              <a:gd name="adj" fmla="val 12000"/>
            </a:avLst>
          </a:prstGeom>
          <a:solidFill>
            <a:srgbClr val="F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2441448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800" b="1">
                <a:solidFill>
                  <a:srgbClr val="EF312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3108960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16171A"/>
                </a:solidFill>
                <a:latin typeface="Arial"/>
              </a:defRPr>
            </a:pPr>
            <a:r>
              <a:t>Полный сценарий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3886200"/>
            <a:ext cx="3840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800" b="0">
                <a:solidFill>
                  <a:srgbClr val="65666E"/>
                </a:solidFill>
                <a:latin typeface="Arial"/>
              </a:defRPr>
            </a:pPr>
            <a:r>
              <a:t>Ключ LLM + отчёты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800" b="0">
                <a:solidFill>
                  <a:srgbClr val="65666E"/>
                </a:solidFill>
                <a:latin typeface="Arial"/>
              </a:defRPr>
            </a:pPr>
            <a:r>
              <a:t>worker → AI-разбор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806440"/>
            <a:ext cx="13350240" cy="1188720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601675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400" b="1">
                <a:solidFill>
                  <a:srgbClr val="EF3124"/>
                </a:solidFill>
                <a:latin typeface="Arial"/>
              </a:defRPr>
            </a:pPr>
            <a:r>
              <a:t>Проверки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007608"/>
            <a:ext cx="103327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000" b="0">
                <a:solidFill>
                  <a:srgbClr val="16171A"/>
                </a:solidFill>
                <a:latin typeface="Arial"/>
              </a:defRPr>
            </a:pPr>
            <a:r>
              <a:t>pytest: профиль, ранжирование, API, источники и ошибки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000" b="0">
                <a:solidFill>
                  <a:srgbClr val="16171A"/>
                </a:solidFill>
                <a:latin typeface="Arial"/>
              </a:defRPr>
            </a:pPr>
            <a:r>
              <a:t>Node test + сборка Vite · инструкции в setup.md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0584" cy="246888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97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AAAAAF"/>
                </a:solidFill>
                <a:latin typeface="Arial"/>
              </a:defRPr>
            </a:pPr>
            <a:r>
              <a:t>РЕЗУЛЬТАТ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335024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От новости — к обоснованному действию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754112"/>
            <a:ext cx="13350240" cy="12801"/>
          </a:xfrm>
          <a:prstGeom prst="rect">
            <a:avLst/>
          </a:prstGeom>
          <a:solidFill>
            <a:srgbClr val="393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882127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AAAAAF"/>
                </a:solidFill>
                <a:latin typeface="Arial"/>
              </a:defRPr>
            </a:pPr>
            <a:r>
              <a:t>ALPHA HACK  /  БИЗНЕС-ИНСАЙТЫ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3640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AAAAAF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68880"/>
            <a:ext cx="4297680" cy="2423160"/>
          </a:xfrm>
          <a:prstGeom prst="roundRect">
            <a:avLst>
              <a:gd name="adj" fmla="val 12000"/>
            </a:avLst>
          </a:prstGeom>
          <a:solidFill>
            <a:srgbClr val="25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700" b="1">
                <a:solidFill>
                  <a:srgbClr val="EF3124"/>
                </a:solidFill>
                <a:latin typeface="Arial"/>
              </a:defRPr>
            </a:pPr>
            <a:r>
              <a:t>ЛИЧНО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374903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Интересы бизнеса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и сотрудника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2468880"/>
            <a:ext cx="4297680" cy="2423160"/>
          </a:xfrm>
          <a:prstGeom prst="roundRect">
            <a:avLst>
              <a:gd name="adj" fmla="val 12000"/>
            </a:avLst>
          </a:prstGeom>
          <a:solidFill>
            <a:srgbClr val="25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278892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700" b="1">
                <a:solidFill>
                  <a:srgbClr val="EF3124"/>
                </a:solidFill>
                <a:latin typeface="Arial"/>
              </a:defRPr>
            </a:pPr>
            <a:r>
              <a:t>ПОНЯТНО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3520440"/>
            <a:ext cx="374903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Явные правила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подбора новостей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2468880"/>
            <a:ext cx="4297680" cy="2423160"/>
          </a:xfrm>
          <a:prstGeom prst="roundRect">
            <a:avLst>
              <a:gd name="adj" fmla="val 12000"/>
            </a:avLst>
          </a:prstGeom>
          <a:solidFill>
            <a:srgbClr val="25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0" y="278892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1700" b="1">
                <a:solidFill>
                  <a:srgbClr val="EF3124"/>
                </a:solidFill>
                <a:latin typeface="Arial"/>
              </a:defRPr>
            </a:pPr>
            <a:r>
              <a:t>ПРОВЕРЯЕМО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3520440"/>
            <a:ext cx="374903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Выводы с цитатами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и источниками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23560"/>
            <a:ext cx="13350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4300" b="1">
                <a:solidFill>
                  <a:srgbClr val="FFFFFF"/>
                </a:solidFill>
                <a:latin typeface="Arial"/>
              </a:defRPr>
            </a:pPr>
            <a:r>
              <a:t>Бизнес-инсайты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693408"/>
            <a:ext cx="12801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 sz="2100" b="0">
                <a:solidFill>
                  <a:srgbClr val="C4C4CC"/>
                </a:solidFill>
                <a:latin typeface="Arial"/>
              </a:defRPr>
            </a:pPr>
            <a:r>
              <a:rPr>
                <a:hlinkClick r:id="rId2"/>
              </a:rPr>
              <a:t>github.com/Mishgite/Alpha_Hack_News_Analytics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4C4CC"/>
      </a:hlink>
      <a:folHlink>
        <a:srgbClr val="C4C4C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Бизнес-инсайты · Alpha Hack News Analytics</dc:title>
  <dc:subject>Командный проект для хакатона Альфа-Банка</dc:subject>
  <dc:creator>Команда Alpha Hack News Analytics</dc:creator>
  <cp:keywords>Альфа-Банк, новости, теги, персонализация, AI, RAG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ru-RU</dc:language>
</cp:coreProperties>
</file>